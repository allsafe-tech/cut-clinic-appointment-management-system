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1520" y="64008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7CDCD3"/>
                </a:solidFill>
                <a:latin typeface="Aptos"/>
              </a:defRPr>
            </a:pPr>
            <a:r>
              <a:t>CUT CLINIC  •  DIGITAL SERVICE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315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3400" b="1" i="0">
                <a:solidFill>
                  <a:srgbClr val="FFFFFF"/>
                </a:solidFill>
                <a:latin typeface="Aptos Display"/>
              </a:defRPr>
            </a:pPr>
            <a:r>
              <a:t>Appointment</a:t>
            </a:r>
          </a:p>
          <a:p>
            <a:pPr algn="l">
              <a:spcAft>
                <a:spcPts val="500"/>
              </a:spcAft>
              <a:defRPr sz="3400" b="1" i="0">
                <a:solidFill>
                  <a:srgbClr val="FFFFFF"/>
                </a:solidFill>
                <a:latin typeface="Aptos Display"/>
              </a:defRPr>
            </a:pPr>
            <a:r>
              <a:t>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063240"/>
            <a:ext cx="6675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800" b="0" i="0">
                <a:solidFill>
                  <a:srgbClr val="DCE6F0"/>
                </a:solidFill>
                <a:latin typeface="Aptos"/>
              </a:defRPr>
            </a:pPr>
            <a:r>
              <a:t>Implemented functionality, stakeholder problems, and how the solution improves the appointment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126480"/>
            <a:ext cx="7132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CCD8E4"/>
                </a:solidFill>
                <a:latin typeface="Aptos"/>
              </a:defRPr>
            </a:pPr>
            <a:r>
              <a:t>Stakeholder: CUT Clinic  |  Users: CUT students and clinic staff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2179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500"/>
              </a:spcAft>
              <a:defRPr sz="1100" b="1" i="0">
                <a:solidFill>
                  <a:srgbClr val="CCD8E4"/>
                </a:solidFill>
                <a:latin typeface="Aptos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168987"/>
                </a:solidFill>
                <a:latin typeface="Aptos"/>
              </a:defRPr>
            </a:pPr>
            <a:r>
              <a:t>01  |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32B4A"/>
                </a:solidFill>
                <a:latin typeface="Aptos Display"/>
              </a:defRPr>
            </a:pPr>
            <a:r>
              <a:t>The stakeholder’s critical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5B6A7A"/>
                </a:solidFill>
                <a:latin typeface="Aptos"/>
              </a:defRPr>
            </a:pPr>
            <a:r>
              <a:t>The system is designed around the current clinic workflow and the delays students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3520440" cy="1828800"/>
          </a:xfrm>
          <a:prstGeom prst="roundRect">
            <a:avLst/>
          </a:prstGeom>
          <a:solidFill>
            <a:srgbClr val="FAE8E8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47088"/>
            <a:ext cx="64008" cy="1609344"/>
          </a:xfrm>
          <a:prstGeom prst="rect">
            <a:avLst/>
          </a:prstGeom>
          <a:solidFill>
            <a:srgbClr val="B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901952"/>
            <a:ext cx="31729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Requests depend on email and 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31720"/>
            <a:ext cx="315468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Students contact the clinic through Outlook/email or telephone. Requests can be difficult to track consistently.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520440" cy="1828800"/>
          </a:xfrm>
          <a:prstGeom prst="roundRect">
            <a:avLst/>
          </a:prstGeom>
          <a:solidFill>
            <a:srgbClr val="FAF1E1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847088"/>
            <a:ext cx="64008" cy="1609344"/>
          </a:xfrm>
          <a:prstGeom prst="rect">
            <a:avLst/>
          </a:prstGeom>
          <a:solidFill>
            <a:srgbClr val="C2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901952"/>
            <a:ext cx="31729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Only two staff receive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31720"/>
            <a:ext cx="315468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When those staff members are unavailable, requests can wait longer before being reviewed.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520440" cy="1828800"/>
          </a:xfrm>
          <a:prstGeom prst="roundRect">
            <a:avLst/>
          </a:prstGeom>
          <a:solidFill>
            <a:srgbClr val="DEEBF8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847088"/>
            <a:ext cx="64008" cy="1609344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901952"/>
            <a:ext cx="31729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Students may miss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31720"/>
            <a:ext cx="315468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Some students have limited mobile data and cannot check Outlook regularly to see whether the clinic has responded.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132B4A"/>
                </a:solidFill>
                <a:latin typeface="Aptos"/>
              </a:defRPr>
            </a:pPr>
            <a:r>
              <a:t>Impact on the clinic and students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17720"/>
            <a:ext cx="10698480" cy="1325880"/>
          </a:xfrm>
          <a:prstGeom prst="rect">
            <a:avLst/>
          </a:prstGeom>
          <a:noFill/>
        </p:spPr>
        <p:txBody>
          <a:bodyPr wrap="square" lIns="54864" tIns="27432" rIns="73152" bIns="2743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A3542"/>
                </a:solidFill>
                <a:latin typeface="Aptos"/>
              </a:defRPr>
            </a:pPr>
            <a:r>
              <a:rPr sz="1500" b="1">
                <a:solidFill>
                  <a:srgbClr val="168987"/>
                </a:solidFill>
                <a:latin typeface="Aptos"/>
              </a:rPr>
              <a:t>●  Delayed visibility: </a:t>
            </a:r>
            <a:r>
              <a:rPr sz="1500">
                <a:solidFill>
                  <a:srgbClr val="2A3542"/>
                </a:solidFill>
                <a:latin typeface="Aptos"/>
              </a:rPr>
              <a:t>students may not know the status of a request promptly.</a:t>
            </a:r>
          </a:p>
          <a:p>
            <a:pPr>
              <a:spcAft>
                <a:spcPts val="700"/>
              </a:spcAft>
              <a:defRPr sz="1500">
                <a:solidFill>
                  <a:srgbClr val="2A3542"/>
                </a:solidFill>
                <a:latin typeface="Aptos"/>
              </a:defRPr>
            </a:pPr>
            <a:r>
              <a:rPr sz="1500" b="1">
                <a:solidFill>
                  <a:srgbClr val="168987"/>
                </a:solidFill>
                <a:latin typeface="Aptos"/>
              </a:rPr>
              <a:t>●  Manual coordination: </a:t>
            </a:r>
            <a:r>
              <a:rPr sz="1500">
                <a:solidFill>
                  <a:srgbClr val="2A3542"/>
                </a:solidFill>
                <a:latin typeface="Aptos"/>
              </a:rPr>
              <a:t>staff must manage communication and appointment details across separate channels.</a:t>
            </a:r>
          </a:p>
          <a:p>
            <a:pPr>
              <a:spcAft>
                <a:spcPts val="700"/>
              </a:spcAft>
              <a:defRPr sz="1500">
                <a:solidFill>
                  <a:srgbClr val="2A3542"/>
                </a:solidFill>
                <a:latin typeface="Aptos"/>
              </a:defRPr>
            </a:pPr>
            <a:r>
              <a:rPr sz="1500" b="1">
                <a:solidFill>
                  <a:srgbClr val="168987"/>
                </a:solidFill>
                <a:latin typeface="Aptos"/>
              </a:rPr>
              <a:t>●  Need for a shared view: </a:t>
            </a:r>
            <a:r>
              <a:rPr sz="1500">
                <a:solidFill>
                  <a:srgbClr val="2A3542"/>
                </a:solidFill>
                <a:latin typeface="Aptos"/>
              </a:rPr>
              <a:t>staff require a clearer way to see, review, schedule, and follow up requests.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6565392"/>
            <a:ext cx="8961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A7A"/>
                </a:solidFill>
                <a:latin typeface="Aptos"/>
              </a:defRPr>
            </a:pPr>
            <a:r>
              <a:t>CUT CLINIC APPOINTMENT MANAGEMENT SYSTEM  |  PROJECT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A7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168987"/>
                </a:solidFill>
                <a:latin typeface="Aptos"/>
              </a:defRPr>
            </a:pPr>
            <a:r>
              <a:t>02  |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32B4A"/>
                </a:solidFill>
                <a:latin typeface="Aptos Display"/>
              </a:defRPr>
            </a:pPr>
            <a:r>
              <a:t>The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5B6A7A"/>
                </a:solidFill>
                <a:latin typeface="Aptos"/>
              </a:defRPr>
            </a:pPr>
            <a:r>
              <a:t>One connected workflow for student requests and clinic staff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383280" cy="2011680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38528"/>
            <a:ext cx="64008" cy="1792224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93392"/>
            <a:ext cx="303580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32B4A"/>
                </a:solidFill>
                <a:latin typeface="Aptos"/>
              </a:defRPr>
            </a:pPr>
            <a:r>
              <a:t>Student 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23160"/>
            <a:ext cx="3017520" cy="1298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Students register/sign in, submit appointment requests, view appointment status and history, and cancel when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383280" cy="2011680"/>
          </a:xfrm>
          <a:prstGeom prst="roundRect">
            <a:avLst/>
          </a:prstGeom>
          <a:solidFill>
            <a:srgbClr val="DEEBF8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938528"/>
            <a:ext cx="64008" cy="1792224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1993392"/>
            <a:ext cx="303580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32B4A"/>
                </a:solidFill>
                <a:latin typeface="Aptos"/>
              </a:defRPr>
            </a:pPr>
            <a:r>
              <a:t>Clinic staff web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423160"/>
            <a:ext cx="3017520" cy="1298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Staff view requests in a dashboard, review them, approve/reject, assign appointment times, and manage scheduled appointments.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828800"/>
            <a:ext cx="3383280" cy="2011680"/>
          </a:xfrm>
          <a:prstGeom prst="roundRect">
            <a:avLst/>
          </a:prstGeom>
          <a:solidFill>
            <a:srgbClr val="E4F3E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74736" y="1938528"/>
            <a:ext cx="64008" cy="1792224"/>
          </a:xfrm>
          <a:prstGeom prst="rect">
            <a:avLst/>
          </a:prstGeom>
          <a:solidFill>
            <a:srgbClr val="28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75904" y="1993392"/>
            <a:ext cx="303580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32B4A"/>
                </a:solidFill>
                <a:latin typeface="Aptos"/>
              </a:defRPr>
            </a:pPr>
            <a:r>
              <a:t>Shared Supabase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423160"/>
            <a:ext cx="3017520" cy="1298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Authentication and shared data connect both applications so changes made by staff can appear in the student app.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23360" y="2834640"/>
            <a:ext cx="347472" cy="0"/>
          </a:xfrm>
          <a:prstGeom prst="line">
            <a:avLst/>
          </a:prstGeom>
          <a:ln w="25400">
            <a:solidFill>
              <a:srgbClr val="168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90688" y="2834640"/>
            <a:ext cx="347472" cy="0"/>
          </a:xfrm>
          <a:prstGeom prst="line">
            <a:avLst/>
          </a:prstGeom>
          <a:ln w="25400">
            <a:solidFill>
              <a:srgbClr val="168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4434840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2100" b="1" i="0">
                <a:solidFill>
                  <a:srgbClr val="132B4A"/>
                </a:solidFill>
                <a:latin typeface="Aptos"/>
              </a:defRPr>
            </a:pPr>
            <a:r>
              <a:t>The key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9377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2A3542"/>
                </a:solidFill>
                <a:latin typeface="Aptos"/>
              </a:defRPr>
            </a:pPr>
            <a:r>
              <a:t>Move from disconnected email/phone follow-up toward a shared, status-based appointment process with a dedicated interface for students and clinic staff.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6565392"/>
            <a:ext cx="8961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A7A"/>
                </a:solidFill>
                <a:latin typeface="Aptos"/>
              </a:defRPr>
            </a:pPr>
            <a:r>
              <a:t>CUT CLINIC APPOINTMENT MANAGEMENT SYSTEM  | 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A7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168987"/>
                </a:solidFill>
                <a:latin typeface="Aptos"/>
              </a:defRPr>
            </a:pPr>
            <a:r>
              <a:t>03  |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32B4A"/>
                </a:solidFill>
                <a:latin typeface="Aptos Display"/>
              </a:defRPr>
            </a:pPr>
            <a:r>
              <a:t>How the applications work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5B6A7A"/>
                </a:solidFill>
                <a:latin typeface="Aptos"/>
              </a:defRPr>
            </a:pPr>
            <a:r>
              <a:t>High-level architecture of the implemented 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2926080" cy="1371600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029968"/>
            <a:ext cx="64008" cy="1152144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084832"/>
            <a:ext cx="257860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Flutter student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14600"/>
            <a:ext cx="2560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A3542"/>
                </a:solidFill>
                <a:latin typeface="Aptos"/>
              </a:defRPr>
            </a:pPr>
            <a:r>
              <a:t>Registration, login, requests, status and appointment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920240"/>
            <a:ext cx="2926080" cy="1371600"/>
          </a:xfrm>
          <a:prstGeom prst="roundRect">
            <a:avLst/>
          </a:prstGeom>
          <a:solidFill>
            <a:srgbClr val="DEEBF8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49640" y="2029968"/>
            <a:ext cx="64008" cy="1152144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0808" y="2084832"/>
            <a:ext cx="257860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ASP.NET Core staff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0808" y="2514600"/>
            <a:ext cx="25603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A3542"/>
                </a:solidFill>
                <a:latin typeface="Aptos"/>
              </a:defRPr>
            </a:pPr>
            <a:r>
              <a:t>Staff login, dashboard, appointment handling and student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783080"/>
            <a:ext cx="3566160" cy="1691640"/>
          </a:xfrm>
          <a:prstGeom prst="roundRect">
            <a:avLst/>
          </a:prstGeom>
          <a:solidFill>
            <a:srgbClr val="E4F3E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892807"/>
            <a:ext cx="64008" cy="1472184"/>
          </a:xfrm>
          <a:prstGeom prst="rect">
            <a:avLst/>
          </a:prstGeom>
          <a:solidFill>
            <a:srgbClr val="28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98848" y="1947672"/>
            <a:ext cx="321868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132B4A"/>
                </a:solidFill>
                <a:latin typeface="Aptos"/>
              </a:defRPr>
            </a:pPr>
            <a:r>
              <a:t>Supabase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377440"/>
            <a:ext cx="3200400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Authentication + PostgreSQL data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Shared appointments, students, documents metadata and notifications.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39312" y="2606040"/>
            <a:ext cx="612648" cy="0"/>
          </a:xfrm>
          <a:prstGeom prst="line">
            <a:avLst/>
          </a:prstGeom>
          <a:ln w="25400">
            <a:solidFill>
              <a:srgbClr val="168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82127" y="2606040"/>
            <a:ext cx="603505" cy="0"/>
          </a:xfrm>
          <a:prstGeom prst="line">
            <a:avLst/>
          </a:prstGeom>
          <a:ln w="25400">
            <a:solidFill>
              <a:srgbClr val="2765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3977639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32B4A"/>
                </a:solidFill>
                <a:latin typeface="Aptos"/>
              </a:defRPr>
            </a:pPr>
            <a:r>
              <a:t>Data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8056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8680" y="4645152"/>
            <a:ext cx="329184" cy="329184"/>
          </a:xfrm>
          <a:prstGeom prst="ellipse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709160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4617720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1" i="0">
                <a:solidFill>
                  <a:srgbClr val="132B4A"/>
                </a:solidFill>
                <a:latin typeface="Aptos"/>
              </a:defRPr>
            </a:pPr>
            <a:r>
              <a:t>Student submits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04748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2A3542"/>
                </a:solidFill>
                <a:latin typeface="Aptos"/>
              </a:defRPr>
            </a:pPr>
            <a:r>
              <a:t>Request is saved to shared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448056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749040" y="4645152"/>
            <a:ext cx="329184" cy="329184"/>
          </a:xfrm>
          <a:prstGeom prst="ellipse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49040" y="4709160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42232" y="4617720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1" i="0">
                <a:solidFill>
                  <a:srgbClr val="132B4A"/>
                </a:solidFill>
                <a:latin typeface="Aptos"/>
              </a:defRPr>
            </a:pPr>
            <a:r>
              <a:t>Staff reviews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504748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2A3542"/>
                </a:solidFill>
                <a:latin typeface="Aptos"/>
              </a:defRPr>
            </a:pPr>
            <a:r>
              <a:t>Request appears in the staff portal.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448056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629400" y="4645152"/>
            <a:ext cx="329184" cy="329184"/>
          </a:xfrm>
          <a:prstGeom prst="ellipse">
            <a:avLst/>
          </a:prstGeom>
          <a:solidFill>
            <a:srgbClr val="28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29400" y="4709160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4617720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1" i="0">
                <a:solidFill>
                  <a:srgbClr val="132B4A"/>
                </a:solidFill>
                <a:latin typeface="Aptos"/>
              </a:defRPr>
            </a:pPr>
            <a:r>
              <a:t>Staff decides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04748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2A3542"/>
                </a:solidFill>
                <a:latin typeface="Aptos"/>
              </a:defRPr>
            </a:pPr>
            <a:r>
              <a:t>Approve/reject and assign a slot.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448056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281160" y="4645152"/>
            <a:ext cx="329184" cy="329184"/>
          </a:xfrm>
          <a:prstGeom prst="ellipse">
            <a:avLst/>
          </a:prstGeom>
          <a:solidFill>
            <a:srgbClr val="C2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81160" y="4709160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4617720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1" i="0">
                <a:solidFill>
                  <a:srgbClr val="132B4A"/>
                </a:solidFill>
                <a:latin typeface="Aptos"/>
              </a:defRPr>
            </a:pPr>
            <a:r>
              <a:t>Student sees update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504748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2A3542"/>
                </a:solidFill>
                <a:latin typeface="Aptos"/>
              </a:defRPr>
            </a:pPr>
            <a:r>
              <a:t>Status synchronises; email is sent for supported outcomes.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" y="6565392"/>
            <a:ext cx="8961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A7A"/>
                </a:solidFill>
                <a:latin typeface="Aptos"/>
              </a:defRPr>
            </a:pPr>
            <a:r>
              <a:t>CUT CLINIC APPOINTMENT MANAGEMENT SYSTEM  |  PROJECT PRESENTATION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A7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168987"/>
                </a:solidFill>
                <a:latin typeface="Aptos"/>
              </a:defRPr>
            </a:pPr>
            <a:r>
              <a:t>04  | 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32B4A"/>
                </a:solidFill>
                <a:latin typeface="Aptos Display"/>
              </a:defRPr>
            </a:pPr>
            <a:r>
              <a:t>Student-facing functionality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5B6A7A"/>
                </a:solidFill>
                <a:latin typeface="Aptos"/>
              </a:defRPr>
            </a:pPr>
            <a:r>
              <a:t>What students can do in the Flutter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474720" cy="1508760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47088"/>
            <a:ext cx="64008" cy="1289304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Account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31720"/>
            <a:ext cx="310896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2A3542"/>
                </a:solidFill>
                <a:latin typeface="Aptos"/>
              </a:defRPr>
            </a:pPr>
            <a:r>
              <a:t>Register and sign in to use the appointment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37360"/>
            <a:ext cx="3474720" cy="1508760"/>
          </a:xfrm>
          <a:prstGeom prst="roundRect">
            <a:avLst/>
          </a:prstGeom>
          <a:solidFill>
            <a:srgbClr val="DEEBF8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847088"/>
            <a:ext cx="64008" cy="1289304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01952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Request an appointment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310896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2A3542"/>
                </a:solidFill>
                <a:latin typeface="Aptos"/>
              </a:defRPr>
            </a:pPr>
            <a:r>
              <a:t>Submit a request for clinic staff to review. Staff assign the date and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737360"/>
            <a:ext cx="3474720" cy="1508760"/>
          </a:xfrm>
          <a:prstGeom prst="roundRect">
            <a:avLst/>
          </a:prstGeom>
          <a:solidFill>
            <a:srgbClr val="E4F3E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55864" y="1847088"/>
            <a:ext cx="64008" cy="1289304"/>
          </a:xfrm>
          <a:prstGeom prst="rect">
            <a:avLst/>
          </a:prstGeom>
          <a:solidFill>
            <a:srgbClr val="28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2" y="1901952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View appointment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331720"/>
            <a:ext cx="310896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2A3542"/>
                </a:solidFill>
                <a:latin typeface="Aptos"/>
              </a:defRPr>
            </a:pPr>
            <a:r>
              <a:t>See updates from the shared backend rather than relying only on email follow-up.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66160"/>
            <a:ext cx="3474720" cy="1508760"/>
          </a:xfrm>
          <a:prstGeom prst="roundRect">
            <a:avLst/>
          </a:prstGeom>
          <a:solidFill>
            <a:srgbClr val="DEEBF8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675887"/>
            <a:ext cx="64008" cy="1289304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730752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Appointment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160520"/>
            <a:ext cx="310896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2A3542"/>
                </a:solidFill>
                <a:latin typeface="Aptos"/>
              </a:defRPr>
            </a:pPr>
            <a:r>
              <a:t>View past and current appointment information, including completed appointments.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566160"/>
            <a:ext cx="3474720" cy="1508760"/>
          </a:xfrm>
          <a:prstGeom prst="roundRect">
            <a:avLst/>
          </a:prstGeom>
          <a:solidFill>
            <a:srgbClr val="FAF1E1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70832" y="3675887"/>
            <a:ext cx="64008" cy="1289304"/>
          </a:xfrm>
          <a:prstGeom prst="rect">
            <a:avLst/>
          </a:prstGeom>
          <a:solidFill>
            <a:srgbClr val="C2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3730752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Cancellation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160520"/>
            <a:ext cx="310896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2A3542"/>
                </a:solidFill>
                <a:latin typeface="Aptos"/>
              </a:defRPr>
            </a:pPr>
            <a:r>
              <a:t>Students can cancel an appointment when needed, subject to the implemented workflow.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5864" y="3566160"/>
            <a:ext cx="3474720" cy="1508760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55864" y="3675887"/>
            <a:ext cx="64008" cy="1289304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57032" y="3730752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Email updates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2" y="4160520"/>
            <a:ext cx="310896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2A3542"/>
                </a:solidFill>
                <a:latin typeface="Aptos"/>
              </a:defRPr>
            </a:pPr>
            <a:r>
              <a:t>Receive supported appointment outcome messages by email.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23560"/>
            <a:ext cx="107899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132B4A"/>
                </a:solidFill>
                <a:latin typeface="Aptos"/>
              </a:defRPr>
            </a:pPr>
            <a:r>
              <a:t>Important workflow decision: students submit a request; clinic staff control approval and appointment time assignment.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6565392"/>
            <a:ext cx="8961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A7A"/>
                </a:solidFill>
                <a:latin typeface="Aptos"/>
              </a:defRPr>
            </a:pPr>
            <a:r>
              <a:t>CUT CLINIC APPOINTMENT MANAGEMENT SYSTEM  |  PROJECT 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A7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168987"/>
                </a:solidFill>
                <a:latin typeface="Aptos"/>
              </a:defRPr>
            </a:pPr>
            <a:r>
              <a:t>05  | 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32B4A"/>
                </a:solidFill>
                <a:latin typeface="Aptos Display"/>
              </a:defRPr>
            </a:pPr>
            <a:r>
              <a:t>Clinic staff portal functionality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5B6A7A"/>
                </a:solidFill>
                <a:latin typeface="Aptos"/>
              </a:defRPr>
            </a:pPr>
            <a:r>
              <a:t>The ASP.NET Core portal gives authorised clinic staff a central workspace.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74720" cy="1508760"/>
          </a:xfrm>
          <a:prstGeom prst="roundRect">
            <a:avLst/>
          </a:prstGeom>
          <a:solidFill>
            <a:srgbClr val="DEEBF8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01368"/>
            <a:ext cx="64008" cy="1289304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56232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32B4A"/>
                </a:solidFill>
                <a:latin typeface="Aptos"/>
              </a:defRPr>
            </a:pPr>
            <a:r>
              <a:t>Dashboard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86000"/>
            <a:ext cx="310896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A3542"/>
                </a:solidFill>
                <a:latin typeface="Aptos"/>
              </a:defRPr>
            </a:pPr>
            <a:r>
              <a:t>Summary cards show total requests, pending, scheduled, completed, rejected, cancelled, and today's appointments.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474720" cy="1508760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801368"/>
            <a:ext cx="64008" cy="1289304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856232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32B4A"/>
                </a:solidFill>
                <a:latin typeface="Aptos"/>
              </a:defRPr>
            </a:pPr>
            <a:r>
              <a:t>Review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10896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2A3542"/>
                </a:solidFill>
                <a:latin typeface="Aptos"/>
              </a:defRPr>
            </a:pPr>
            <a:r>
              <a:t>Open appointment requests and approve or reject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691640"/>
            <a:ext cx="3474720" cy="1508760"/>
          </a:xfrm>
          <a:prstGeom prst="roundRect">
            <a:avLst/>
          </a:prstGeom>
          <a:solidFill>
            <a:srgbClr val="E4F3E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55864" y="1801368"/>
            <a:ext cx="64008" cy="1289304"/>
          </a:xfrm>
          <a:prstGeom prst="rect">
            <a:avLst/>
          </a:prstGeom>
          <a:solidFill>
            <a:srgbClr val="28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2" y="1856232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32B4A"/>
                </a:solidFill>
                <a:latin typeface="Aptos"/>
              </a:defRPr>
            </a:pPr>
            <a:r>
              <a:t>Scheduling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286000"/>
            <a:ext cx="310896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2A3542"/>
                </a:solidFill>
                <a:latin typeface="Aptos"/>
              </a:defRPr>
            </a:pPr>
            <a:r>
              <a:t>Assign appointment date/time and manage scheduled appointments.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20440"/>
            <a:ext cx="3474720" cy="1508760"/>
          </a:xfrm>
          <a:prstGeom prst="roundRect">
            <a:avLst/>
          </a:prstGeom>
          <a:solidFill>
            <a:srgbClr val="FAF1E1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630168"/>
            <a:ext cx="64008" cy="1289304"/>
          </a:xfrm>
          <a:prstGeom prst="rect">
            <a:avLst/>
          </a:prstGeom>
          <a:solidFill>
            <a:srgbClr val="C2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685032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32B4A"/>
                </a:solidFill>
                <a:latin typeface="Aptos"/>
              </a:defRPr>
            </a:pPr>
            <a:r>
              <a:t>Reschedule if needed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114800"/>
            <a:ext cx="310896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A3542"/>
                </a:solidFill>
                <a:latin typeface="Aptos"/>
              </a:defRPr>
            </a:pPr>
            <a:r>
              <a:t>Staff can reschedule an approved appointment if the clinician becomes unavailable.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520440"/>
            <a:ext cx="3474720" cy="1508760"/>
          </a:xfrm>
          <a:prstGeom prst="roundRect">
            <a:avLst/>
          </a:prstGeom>
          <a:solidFill>
            <a:srgbClr val="DEEBF8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70832" y="3630168"/>
            <a:ext cx="64008" cy="1289304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3685032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32B4A"/>
                </a:solidFill>
                <a:latin typeface="Aptos"/>
              </a:defRPr>
            </a:pPr>
            <a:r>
              <a:t>Student 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114800"/>
            <a:ext cx="310896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A3542"/>
                </a:solidFill>
                <a:latin typeface="Aptos"/>
              </a:defRPr>
            </a:pPr>
            <a:r>
              <a:t>View student profile information and appointment history, including completed visits.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5864" y="3520440"/>
            <a:ext cx="3474720" cy="1508760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55864" y="3630168"/>
            <a:ext cx="64008" cy="1289304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57032" y="3685032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32B4A"/>
                </a:solidFill>
                <a:latin typeface="Aptos"/>
              </a:defRPr>
            </a:pPr>
            <a:r>
              <a:t>Email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2" y="4114800"/>
            <a:ext cx="310896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2A3542"/>
                </a:solidFill>
                <a:latin typeface="Aptos"/>
              </a:defRPr>
            </a:pPr>
            <a:r>
              <a:t>Appointment emails are configured and have been confirmed to send in project testing.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532120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5B6A7A"/>
                </a:solidFill>
                <a:latin typeface="Aptos"/>
              </a:defRPr>
            </a:pPr>
            <a:r>
              <a:t>Staff alerts: the in-app notification area is intended to alert staff to new appointment requests.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6565392"/>
            <a:ext cx="8961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A7A"/>
                </a:solidFill>
                <a:latin typeface="Aptos"/>
              </a:defRPr>
            </a:pPr>
            <a:r>
              <a:t>CUT CLINIC APPOINTMENT MANAGEMENT SYSTEM  |  PROJECT 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A7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168987"/>
                </a:solidFill>
                <a:latin typeface="Aptos"/>
              </a:defRPr>
            </a:pPr>
            <a:r>
              <a:t>06  | 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32B4A"/>
                </a:solidFill>
                <a:latin typeface="Aptos Display"/>
              </a:defRPr>
            </a:pPr>
            <a:r>
              <a:t>Appointment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5B6A7A"/>
                </a:solidFill>
                <a:latin typeface="Aptos"/>
              </a:defRPr>
            </a:pPr>
            <a:r>
              <a:t>The workflow makes the clinic's decision points explicit.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017520" cy="1234440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0392" y="1993392"/>
            <a:ext cx="384048" cy="384048"/>
          </a:xfrm>
          <a:prstGeom prst="ellipse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075688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00"/>
              </a:spcAft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993392"/>
            <a:ext cx="217627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32B4A"/>
                </a:solidFill>
                <a:latin typeface="Aptos"/>
              </a:defRPr>
            </a:pPr>
            <a:r>
              <a:t>Request submitted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87168"/>
            <a:ext cx="265176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A3542"/>
                </a:solidFill>
                <a:latin typeface="Aptos"/>
              </a:defRPr>
            </a:pPr>
            <a:r>
              <a:t>Student sends request from Flutter.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07992" y="1993392"/>
            <a:ext cx="384048" cy="384048"/>
          </a:xfrm>
          <a:prstGeom prst="ellipse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2075688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00"/>
              </a:spcAft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1993392"/>
            <a:ext cx="217627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32B4A"/>
                </a:solidFill>
                <a:latin typeface="Aptos"/>
              </a:defRPr>
            </a:pPr>
            <a:r>
              <a:t>Pending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87168"/>
            <a:ext cx="265176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A3542"/>
                </a:solidFill>
                <a:latin typeface="Aptos"/>
              </a:defRPr>
            </a:pPr>
            <a:r>
              <a:t>Request is visible in staff portal.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65592" y="1993392"/>
            <a:ext cx="384048" cy="384048"/>
          </a:xfrm>
          <a:prstGeom prst="ellipse">
            <a:avLst/>
          </a:prstGeom>
          <a:solidFill>
            <a:srgbClr val="28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65592" y="2075688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00"/>
              </a:spcAft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3A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8" y="1993392"/>
            <a:ext cx="217627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32B4A"/>
                </a:solidFill>
                <a:latin typeface="Aptos"/>
              </a:defRPr>
            </a:pPr>
            <a:r>
              <a:t>Approved + scheduled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487168"/>
            <a:ext cx="265176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A3542"/>
                </a:solidFill>
                <a:latin typeface="Aptos"/>
              </a:defRPr>
            </a:pPr>
            <a:r>
              <a:t>Staff assigns date/time.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3886200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165592" y="4050791"/>
            <a:ext cx="384048" cy="384048"/>
          </a:xfrm>
          <a:prstGeom prst="ellipse">
            <a:avLst/>
          </a:prstGeom>
          <a:solidFill>
            <a:srgbClr val="B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65592" y="4133087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00"/>
              </a:spcAft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3B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9368" y="4050791"/>
            <a:ext cx="217627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32B4A"/>
                </a:solidFill>
                <a:latin typeface="Aptos"/>
              </a:defRPr>
            </a:pPr>
            <a:r>
              <a:t>Rejected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544568"/>
            <a:ext cx="265176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A3542"/>
                </a:solidFill>
                <a:latin typeface="Aptos"/>
              </a:defRPr>
            </a:pPr>
            <a:r>
              <a:t>Staff declines request.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886200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07992" y="4050791"/>
            <a:ext cx="384048" cy="384048"/>
          </a:xfrm>
          <a:prstGeom prst="ellipse">
            <a:avLst/>
          </a:prstGeom>
          <a:solidFill>
            <a:srgbClr val="C2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07992" y="4133087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00"/>
              </a:spcAft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1768" y="4050791"/>
            <a:ext cx="217627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32B4A"/>
                </a:solidFill>
                <a:latin typeface="Aptos"/>
              </a:defRPr>
            </a:pPr>
            <a:r>
              <a:t>Outcome communicated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544568"/>
            <a:ext cx="265176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A3542"/>
                </a:solidFill>
                <a:latin typeface="Aptos"/>
              </a:defRPr>
            </a:pPr>
            <a:r>
              <a:t>Status appears in the apps; supported email is sent.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886200"/>
            <a:ext cx="3017520" cy="1234440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50392" y="4050791"/>
            <a:ext cx="384048" cy="384048"/>
          </a:xfrm>
          <a:prstGeom prst="ellipse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4133087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00"/>
              </a:spcAft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44168" y="4050791"/>
            <a:ext cx="2176272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32B4A"/>
                </a:solidFill>
                <a:latin typeface="Aptos"/>
              </a:defRPr>
            </a:pPr>
            <a:r>
              <a:t>Manage appointment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544568"/>
            <a:ext cx="265176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2A3542"/>
                </a:solidFill>
                <a:latin typeface="Aptos"/>
              </a:defRPr>
            </a:pPr>
            <a:r>
              <a:t>Cancellation or staff rescheduling when appropriate.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749039" y="2450592"/>
            <a:ext cx="502921" cy="0"/>
          </a:xfrm>
          <a:prstGeom prst="line">
            <a:avLst/>
          </a:prstGeom>
          <a:ln w="22860">
            <a:solidFill>
              <a:srgbClr val="168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06640" y="2450592"/>
            <a:ext cx="502920" cy="0"/>
          </a:xfrm>
          <a:prstGeom prst="line">
            <a:avLst/>
          </a:prstGeom>
          <a:ln w="22860">
            <a:solidFill>
              <a:srgbClr val="168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509760" y="3108960"/>
            <a:ext cx="0" cy="713231"/>
          </a:xfrm>
          <a:prstGeom prst="line">
            <a:avLst/>
          </a:prstGeom>
          <a:ln w="22860">
            <a:solidFill>
              <a:srgbClr val="C277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406640" y="4498848"/>
            <a:ext cx="502920" cy="0"/>
          </a:xfrm>
          <a:prstGeom prst="line">
            <a:avLst/>
          </a:prstGeom>
          <a:ln w="22860">
            <a:solidFill>
              <a:srgbClr val="168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3749039" y="4498848"/>
            <a:ext cx="502921" cy="0"/>
          </a:xfrm>
          <a:prstGeom prst="line">
            <a:avLst/>
          </a:prstGeom>
          <a:ln w="22860">
            <a:solidFill>
              <a:srgbClr val="168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77240" y="562356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1" i="0">
                <a:solidFill>
                  <a:srgbClr val="132B4A"/>
                </a:solidFill>
                <a:latin typeface="Aptos"/>
              </a:defRPr>
            </a:pPr>
            <a:r>
              <a:t>Business rule: one active appointment per student; the system also checks for past appointment times and duplicate date/time bookings.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0352" y="6565392"/>
            <a:ext cx="8961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A7A"/>
                </a:solidFill>
                <a:latin typeface="Aptos"/>
              </a:defRPr>
            </a:pPr>
            <a:r>
              <a:t>CUT CLINIC APPOINTMENT MANAGEMENT SYSTEM  |  PROJECT PRESENTATION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A7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168987"/>
                </a:solidFill>
                <a:latin typeface="Aptos"/>
              </a:defRPr>
            </a:pPr>
            <a:r>
              <a:t>07  |  STAKEHOLDER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32B4A"/>
                </a:solidFill>
                <a:latin typeface="Aptos Display"/>
              </a:defRPr>
            </a:pPr>
            <a:r>
              <a:t>How the solution addresses stakeholder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5B6A7A"/>
                </a:solidFill>
                <a:latin typeface="Aptos"/>
              </a:defRPr>
            </a:pPr>
            <a:r>
              <a:t>The value is not just digitisation—it is a clearer process for students and staff.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926080" cy="438912"/>
          </a:xfrm>
          <a:prstGeom prst="round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792224"/>
            <a:ext cx="270662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Critical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691640"/>
            <a:ext cx="3931920" cy="438912"/>
          </a:xfrm>
          <a:prstGeom prst="round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58768" y="1792224"/>
            <a:ext cx="37124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Implemented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691640"/>
            <a:ext cx="3657600" cy="438912"/>
          </a:xfrm>
          <a:prstGeom prst="roundRect">
            <a:avLst/>
          </a:prstGeom>
          <a:solidFill>
            <a:srgbClr val="13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27848" y="1792224"/>
            <a:ext cx="34381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Expected benefit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67712"/>
            <a:ext cx="2926080" cy="658368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2359152"/>
            <a:ext cx="27066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2A3542"/>
                </a:solidFill>
                <a:latin typeface="Aptos"/>
              </a:defRPr>
            </a:pPr>
            <a:r>
              <a:t>Requests rely on email/phone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2267712"/>
            <a:ext cx="3931920" cy="658368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58768" y="2359152"/>
            <a:ext cx="37124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2A3542"/>
                </a:solidFill>
                <a:latin typeface="Aptos"/>
              </a:defRPr>
            </a:pPr>
            <a:r>
              <a:t>Student app + staff portal share appointment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267712"/>
            <a:ext cx="3657600" cy="658368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27848" y="2359152"/>
            <a:ext cx="34381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2A3542"/>
                </a:solidFill>
                <a:latin typeface="Aptos"/>
              </a:defRPr>
            </a:pPr>
            <a:r>
              <a:t>One organised workflow instead of scattered follow-up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377440"/>
            <a:ext cx="50292" cy="438912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85800" y="3044952"/>
            <a:ext cx="2926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136392"/>
            <a:ext cx="27066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2A3542"/>
                </a:solidFill>
                <a:latin typeface="Aptos"/>
              </a:defRPr>
            </a:pPr>
            <a:r>
              <a:t>Only two staff receive emails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3044952"/>
            <a:ext cx="3931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58768" y="3136392"/>
            <a:ext cx="37124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2A3542"/>
                </a:solidFill>
                <a:latin typeface="Aptos"/>
              </a:defRPr>
            </a:pPr>
            <a:r>
              <a:t>Requests are listed in a staff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3044952"/>
            <a:ext cx="3657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27848" y="3136392"/>
            <a:ext cx="34381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2A3542"/>
                </a:solidFill>
                <a:latin typeface="Aptos"/>
              </a:defRPr>
            </a:pPr>
            <a:r>
              <a:t>Staff can see pending work in a central 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154680"/>
            <a:ext cx="50292" cy="438912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85800" y="3822191"/>
            <a:ext cx="2926080" cy="658368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3913631"/>
            <a:ext cx="27066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2A3542"/>
                </a:solidFill>
                <a:latin typeface="Aptos"/>
              </a:defRPr>
            </a:pPr>
            <a:r>
              <a:t>Students may not check Outlook daily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49039" y="3822191"/>
            <a:ext cx="3931920" cy="658368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58768" y="3913631"/>
            <a:ext cx="37124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2A3542"/>
                </a:solidFill>
                <a:latin typeface="Aptos"/>
              </a:defRPr>
            </a:pPr>
            <a:r>
              <a:t>Status is available in the student app; supported email updates are sent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3822191"/>
            <a:ext cx="3657600" cy="658368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27848" y="3913631"/>
            <a:ext cx="34381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2A3542"/>
                </a:solidFill>
                <a:latin typeface="Aptos"/>
              </a:defRPr>
            </a:pPr>
            <a:r>
              <a:t>Less dependence on repeatedly checking inboxes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931920"/>
            <a:ext cx="50292" cy="438912"/>
          </a:xfrm>
          <a:prstGeom prst="rect">
            <a:avLst/>
          </a:prstGeom>
          <a:solidFill>
            <a:srgbClr val="28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85800" y="4599431"/>
            <a:ext cx="2926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5528" y="4690871"/>
            <a:ext cx="27066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2A3542"/>
                </a:solidFill>
                <a:latin typeface="Aptos"/>
              </a:defRPr>
            </a:pPr>
            <a:r>
              <a:t>Scheduling is manually coordinated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49039" y="4599431"/>
            <a:ext cx="3931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58768" y="4690871"/>
            <a:ext cx="37124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2A3542"/>
                </a:solidFill>
                <a:latin typeface="Aptos"/>
              </a:defRPr>
            </a:pPr>
            <a:r>
              <a:t>Staff approve/reject and assign date/time; rescheduling is supported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8120" y="4599431"/>
            <a:ext cx="3657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27848" y="4690871"/>
            <a:ext cx="34381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2A3542"/>
                </a:solidFill>
                <a:latin typeface="Aptos"/>
              </a:defRPr>
            </a:pPr>
            <a:r>
              <a:t>Clearer decisions and fewer scheduling conflicts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4709159"/>
            <a:ext cx="50292" cy="438912"/>
          </a:xfrm>
          <a:prstGeom prst="rect">
            <a:avLst/>
          </a:prstGeom>
          <a:solidFill>
            <a:srgbClr val="C2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562356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5B6A7A"/>
                </a:solidFill>
                <a:latin typeface="Aptos"/>
              </a:defRPr>
            </a:pPr>
            <a:r>
              <a:t>These are intended operational improvements; actual reductions in delays should be measured during stakeholder testing.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" y="6565392"/>
            <a:ext cx="8961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A7A"/>
                </a:solidFill>
                <a:latin typeface="Aptos"/>
              </a:defRPr>
            </a:pPr>
            <a:r>
              <a:t>CUT CLINIC APPOINTMENT MANAGEMENT SYSTEM  |  PROJECT PRESENTATION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A7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168987"/>
                </a:solidFill>
                <a:latin typeface="Aptos"/>
              </a:defRPr>
            </a:pPr>
            <a:r>
              <a:t>08  | 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32B4A"/>
                </a:solidFill>
                <a:latin typeface="Aptos Display"/>
              </a:defRPr>
            </a:pPr>
            <a:r>
              <a:t>Rules that improve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5B6A7A"/>
                </a:solidFill>
                <a:latin typeface="Aptos"/>
              </a:defRPr>
            </a:pPr>
            <a:r>
              <a:t>Business rules help prevent avoidable appointment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74720" cy="1508760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64008" cy="1289304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One active appointment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23160"/>
            <a:ext cx="310896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2A3542"/>
                </a:solidFill>
                <a:latin typeface="Aptos"/>
              </a:defRPr>
            </a:pPr>
            <a:r>
              <a:t>A student should not hold multiple active appointments at the same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74720" cy="1508760"/>
          </a:xfrm>
          <a:prstGeom prst="roundRect">
            <a:avLst/>
          </a:prstGeom>
          <a:solidFill>
            <a:srgbClr val="DEEBF8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938528"/>
            <a:ext cx="64008" cy="1289304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93392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No past appointment slots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310896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2A3542"/>
                </a:solidFill>
                <a:latin typeface="Aptos"/>
              </a:defRPr>
            </a:pPr>
            <a:r>
              <a:t>The system checks date/time so a new booking cannot be set in the past.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828800"/>
            <a:ext cx="3474720" cy="1508760"/>
          </a:xfrm>
          <a:prstGeom prst="roundRect">
            <a:avLst/>
          </a:prstGeom>
          <a:solidFill>
            <a:srgbClr val="E4F3E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55864" y="1938528"/>
            <a:ext cx="64008" cy="1289304"/>
          </a:xfrm>
          <a:prstGeom prst="rect">
            <a:avLst/>
          </a:prstGeom>
          <a:solidFill>
            <a:srgbClr val="28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2" y="1993392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Avoid duplicate slots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423160"/>
            <a:ext cx="310896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2A3542"/>
                </a:solidFill>
                <a:latin typeface="Aptos"/>
              </a:defRPr>
            </a:pPr>
            <a:r>
              <a:t>The appointment workflow checks for an existing booking at the same date/time.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3474720" cy="1508760"/>
          </a:xfrm>
          <a:prstGeom prst="roundRect">
            <a:avLst/>
          </a:prstGeom>
          <a:solidFill>
            <a:srgbClr val="DEEBF8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767328"/>
            <a:ext cx="64008" cy="1289304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822191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Shared source of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251960"/>
            <a:ext cx="310896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2A3542"/>
                </a:solidFill>
                <a:latin typeface="Aptos"/>
              </a:defRPr>
            </a:pPr>
            <a:r>
              <a:t>Flutter and ASP.NET read/write through the same Supabase-backed data model.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657600"/>
            <a:ext cx="3474720" cy="1508760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70832" y="3767328"/>
            <a:ext cx="64008" cy="1289304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3822191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Staff authentication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51960"/>
            <a:ext cx="310896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2A3542"/>
                </a:solidFill>
                <a:latin typeface="Aptos"/>
              </a:defRPr>
            </a:pPr>
            <a:r>
              <a:t>Staff portal uses authenticated staff access and role-based protection.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5864" y="3657600"/>
            <a:ext cx="3474720" cy="1508760"/>
          </a:xfrm>
          <a:prstGeom prst="roundRect">
            <a:avLst/>
          </a:prstGeom>
          <a:solidFill>
            <a:srgbClr val="FAF1E1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55864" y="3767328"/>
            <a:ext cx="64008" cy="1289304"/>
          </a:xfrm>
          <a:prstGeom prst="rect">
            <a:avLst/>
          </a:prstGeom>
          <a:solidFill>
            <a:srgbClr val="C2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57032" y="3822191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Status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2" y="4251960"/>
            <a:ext cx="3108960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2A3542"/>
                </a:solidFill>
                <a:latin typeface="Aptos"/>
              </a:defRPr>
            </a:pPr>
            <a:r>
              <a:t>Appointment statuses help staff and students understand the current state.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6565392"/>
            <a:ext cx="8961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A7A"/>
                </a:solidFill>
                <a:latin typeface="Aptos"/>
              </a:defRPr>
            </a:pPr>
            <a:r>
              <a:t>CUT CLINIC APPOINTMENT MANAGEMENT SYSTEM  |  PROJECT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A7A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168987"/>
                </a:solidFill>
                <a:latin typeface="Aptos"/>
              </a:defRPr>
            </a:pPr>
            <a:r>
              <a:t>09  |  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32B4A"/>
                </a:solidFill>
                <a:latin typeface="Aptos Display"/>
              </a:defRPr>
            </a:pPr>
            <a:r>
              <a:t>Technology choices and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5B6A7A"/>
                </a:solidFill>
                <a:latin typeface="Aptos"/>
              </a:defRPr>
            </a:pPr>
            <a:r>
              <a:t>The stack supports a student mobile interface and a staff web interface over shared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474720" cy="1920240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92807"/>
            <a:ext cx="64008" cy="1700784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32B4A"/>
                </a:solidFill>
                <a:latin typeface="Aptos"/>
              </a:defRPr>
            </a:pPr>
            <a:r>
              <a:t>Flutter / Dart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77440"/>
            <a:ext cx="3108960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Cross-platform mobile app for students.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Provides a dedicated interface for submitting and checking appointment requests.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83080"/>
            <a:ext cx="3474720" cy="1920240"/>
          </a:xfrm>
          <a:prstGeom prst="roundRect">
            <a:avLst/>
          </a:prstGeom>
          <a:solidFill>
            <a:srgbClr val="DEEBF8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892807"/>
            <a:ext cx="64008" cy="1700784"/>
          </a:xfrm>
          <a:prstGeom prst="rect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947672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32B4A"/>
                </a:solidFill>
                <a:latin typeface="Aptos"/>
              </a:defRPr>
            </a:pPr>
            <a:r>
              <a:t>ASP.NET Core / C#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108960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Web portal for clinic staff.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Supports authenticated access, dashboard views, appointment management, and email integration.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783080"/>
            <a:ext cx="3474720" cy="1920240"/>
          </a:xfrm>
          <a:prstGeom prst="roundRect">
            <a:avLst/>
          </a:prstGeom>
          <a:solidFill>
            <a:srgbClr val="E4F3E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55864" y="1892807"/>
            <a:ext cx="64008" cy="1700784"/>
          </a:xfrm>
          <a:prstGeom prst="rect">
            <a:avLst/>
          </a:prstGeom>
          <a:solidFill>
            <a:srgbClr val="28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2" y="1947672"/>
            <a:ext cx="312724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32B4A"/>
                </a:solidFill>
                <a:latin typeface="Aptos"/>
              </a:defRPr>
            </a:pPr>
            <a:r>
              <a:t>Supabase / 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377440"/>
            <a:ext cx="3108960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Shared backend, authentication, and structured appointment data.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Allows both apps to work from the same records.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9768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132B4A"/>
                </a:solidFill>
                <a:latin typeface="Aptos"/>
              </a:defRPr>
            </a:pPr>
            <a:r>
              <a:t>Feasibility 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10789920" cy="1097280"/>
          </a:xfrm>
          <a:prstGeom prst="rect">
            <a:avLst/>
          </a:prstGeom>
          <a:noFill/>
        </p:spPr>
        <p:txBody>
          <a:bodyPr wrap="square" lIns="54864" tIns="27432" rIns="73152" bIns="27432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2A3542"/>
                </a:solidFill>
                <a:latin typeface="Aptos"/>
              </a:defRPr>
            </a:pPr>
            <a:r>
              <a:rPr sz="1450" b="1">
                <a:solidFill>
                  <a:srgbClr val="168987"/>
                </a:solidFill>
                <a:latin typeface="Aptos"/>
              </a:rPr>
              <a:t>●  Technical: </a:t>
            </a:r>
            <a:r>
              <a:rPr sz="1450">
                <a:solidFill>
                  <a:srgbClr val="2A3542"/>
                </a:solidFill>
                <a:latin typeface="Aptos"/>
              </a:rPr>
              <a:t>the core mobile, web, database and email components are already working together.</a:t>
            </a:r>
          </a:p>
          <a:p>
            <a:pPr>
              <a:spcAft>
                <a:spcPts val="700"/>
              </a:spcAft>
              <a:defRPr sz="1450">
                <a:solidFill>
                  <a:srgbClr val="2A3542"/>
                </a:solidFill>
                <a:latin typeface="Aptos"/>
              </a:defRPr>
            </a:pPr>
            <a:r>
              <a:rPr sz="1450" b="1">
                <a:solidFill>
                  <a:srgbClr val="168987"/>
                </a:solidFill>
                <a:latin typeface="Aptos"/>
              </a:rPr>
              <a:t>●  Operational: </a:t>
            </a:r>
            <a:r>
              <a:rPr sz="1450">
                <a:solidFill>
                  <a:srgbClr val="2A3542"/>
                </a:solidFill>
                <a:latin typeface="Aptos"/>
              </a:rPr>
              <a:t>each user group has an interface aligned to its role.</a:t>
            </a:r>
          </a:p>
          <a:p>
            <a:pPr>
              <a:spcAft>
                <a:spcPts val="700"/>
              </a:spcAft>
              <a:defRPr sz="1450">
                <a:solidFill>
                  <a:srgbClr val="2A3542"/>
                </a:solidFill>
                <a:latin typeface="Aptos"/>
              </a:defRPr>
            </a:pPr>
            <a:r>
              <a:rPr sz="1450" b="1">
                <a:solidFill>
                  <a:srgbClr val="168987"/>
                </a:solidFill>
                <a:latin typeface="Aptos"/>
              </a:rPr>
              <a:t>●  Maintainability: </a:t>
            </a:r>
            <a:r>
              <a:rPr sz="1450">
                <a:solidFill>
                  <a:srgbClr val="2A3542"/>
                </a:solidFill>
                <a:latin typeface="Aptos"/>
              </a:rPr>
              <a:t>shared backend data reduces the need to maintain separate appointment lists.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6565392"/>
            <a:ext cx="8961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A7A"/>
                </a:solidFill>
                <a:latin typeface="Aptos"/>
              </a:defRPr>
            </a:pPr>
            <a:r>
              <a:t>CUT CLINIC APPOINTMENT MANAGEMENT SYSTEM  |  PROJECT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A7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168987"/>
                </a:solidFill>
                <a:latin typeface="Aptos"/>
              </a:defRPr>
            </a:pPr>
            <a:r>
              <a:t>10  |  DELIVERY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32B4A"/>
                </a:solidFill>
                <a:latin typeface="Aptos Display"/>
              </a:defRPr>
            </a:pPr>
            <a:r>
              <a:rPr dirty="0"/>
              <a:t>Implemented now—and what remains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5B6A7A"/>
                </a:solidFill>
                <a:latin typeface="Aptos"/>
              </a:defRPr>
            </a:pPr>
            <a:r>
              <a:t>Be clear with the stakeholder about completed functionality versus future enhancements.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57800" cy="3246120"/>
          </a:xfrm>
          <a:prstGeom prst="roundRect">
            <a:avLst/>
          </a:prstGeom>
          <a:solidFill>
            <a:srgbClr val="E4F3E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47088"/>
            <a:ext cx="64008" cy="3026663"/>
          </a:xfrm>
          <a:prstGeom prst="rect">
            <a:avLst/>
          </a:prstGeom>
          <a:solidFill>
            <a:srgbClr val="28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491032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Implemented / demonstrated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31720"/>
            <a:ext cx="4892040" cy="253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• Flutter student app connected to Supabase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• ASP.NET Core staff login and dashboard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• Appointment request review and status updates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• Scheduling and staff rescheduling of approved appointments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• Student profile and appointment history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• Email notifications for supported appointment outcomes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• Cross-app data synchronisation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• Validation for active appointments and scheduling conflicts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57800" cy="3246120"/>
          </a:xfrm>
          <a:prstGeom prst="roundRect">
            <a:avLst/>
          </a:prstGeom>
          <a:solidFill>
            <a:srgbClr val="FAF1E1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847088"/>
            <a:ext cx="64008" cy="3026663"/>
          </a:xfrm>
          <a:prstGeom prst="rect">
            <a:avLst/>
          </a:prstGeom>
          <a:solidFill>
            <a:srgbClr val="C27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901952"/>
            <a:ext cx="491032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700" b="1" i="0">
                <a:solidFill>
                  <a:srgbClr val="132B4A"/>
                </a:solidFill>
                <a:latin typeface="Aptos"/>
              </a:defRPr>
            </a:pPr>
            <a:r>
              <a:t>Not to present as completed yet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31720"/>
            <a:ext cx="4892040" cy="253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• SMS delivery: paused; no full Twilio end-to-end test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• Registration-proof approval/rejection workflow: still to be implemented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• Production deployment and load testing: not confirmed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2A3542"/>
                </a:solidFill>
                <a:latin typeface="Aptos"/>
              </a:defRPr>
            </a:pPr>
            <a:r>
              <a:t>• Measured reduction in appointment delays: requires stakeholder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406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32B4A"/>
                </a:solidFill>
                <a:latin typeface="Aptos"/>
              </a:defRPr>
            </a:pPr>
            <a:r>
              <a:t>Recommended next validation: run a clinic-staff walkthrough and student scenario tests, then record feedback and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6565392"/>
            <a:ext cx="8961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A7A"/>
                </a:solidFill>
                <a:latin typeface="Aptos"/>
              </a:defRPr>
            </a:pPr>
            <a:r>
              <a:t>CUT CLINIC APPOINTMENT MANAGEMENT SYSTEM  |  PROJECT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A7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FC274-4848-44E7-993C-B72F3B922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2800" b="1" dirty="0">
                <a:latin typeface="Aptos Display"/>
              </a:rPr>
              <a:t>Project Tracker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6D9D42-A680-474F-91D1-C9348C282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05470"/>
            <a:ext cx="8229600" cy="3715422"/>
          </a:xfrm>
        </p:spPr>
      </p:pic>
    </p:spTree>
    <p:extLst>
      <p:ext uri="{BB962C8B-B14F-4D97-AF65-F5344CB8AC3E}">
        <p14:creationId xmlns:p14="http://schemas.microsoft.com/office/powerpoint/2010/main" val="348392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6DB-BB9D-40ED-A5B3-086ABAE9D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2800" b="1" dirty="0">
                <a:latin typeface="Aptos Display"/>
              </a:rPr>
              <a:t>Microsoft Plan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66F553-25B1-4682-80F6-7515D5B0ED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435" y="2672495"/>
            <a:ext cx="6401129" cy="2381372"/>
          </a:xfrm>
        </p:spPr>
      </p:pic>
    </p:spTree>
    <p:extLst>
      <p:ext uri="{BB962C8B-B14F-4D97-AF65-F5344CB8AC3E}">
        <p14:creationId xmlns:p14="http://schemas.microsoft.com/office/powerpoint/2010/main" val="3674291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6570-DC4C-4225-A133-C3313129B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2800" b="1" dirty="0" err="1">
                <a:latin typeface="Aptos Display"/>
              </a:rPr>
              <a:t>Github</a:t>
            </a:r>
            <a:r>
              <a:rPr lang="en-ZA" sz="2800" b="1" dirty="0">
                <a:latin typeface="Aptos Display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0B9C0-1D03-4196-BB28-2E81C12BC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589" y="1600200"/>
            <a:ext cx="8229600" cy="4525963"/>
          </a:xfrm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15672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ADAF2-2E28-4CC9-845C-43E781625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Supabase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ABDEE-CAA0-4036-8AF3-96EF95583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25927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168987"/>
                </a:solidFill>
                <a:latin typeface="Aptos"/>
              </a:defRPr>
            </a:pPr>
            <a:r>
              <a:t>11  | 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2700" b="1" i="0">
                <a:solidFill>
                  <a:srgbClr val="132B4A"/>
                </a:solidFill>
                <a:latin typeface="Aptos Display"/>
              </a:defRPr>
            </a:pPr>
            <a:r>
              <a:t>Suggested 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5B6A7A"/>
                </a:solidFill>
                <a:latin typeface="Aptos"/>
              </a:defRPr>
            </a:pPr>
            <a:r>
              <a:t>Use one realistic scenario to connect the features back to the stakeholder's problems.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212080" cy="1005840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1832" y="1901952"/>
            <a:ext cx="438912" cy="438912"/>
          </a:xfrm>
          <a:prstGeom prst="ellipse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020824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184708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32B4A"/>
                </a:solidFill>
                <a:latin typeface="Aptos"/>
              </a:defRPr>
            </a:pPr>
            <a:r>
              <a:t>Student submits a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185416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2A3542"/>
                </a:solidFill>
                <a:latin typeface="Aptos"/>
              </a:defRPr>
            </a:pPr>
            <a:r>
              <a:t>Show the request being created in Flutter.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91640"/>
            <a:ext cx="5212080" cy="1005840"/>
          </a:xfrm>
          <a:prstGeom prst="roundRect">
            <a:avLst/>
          </a:prstGeom>
          <a:solidFill>
            <a:srgbClr val="DEEBF8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65392" y="1901952"/>
            <a:ext cx="438912" cy="438912"/>
          </a:xfrm>
          <a:prstGeom prst="ellipse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2020824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184708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32B4A"/>
                </a:solidFill>
                <a:latin typeface="Aptos"/>
              </a:defRPr>
            </a:pPr>
            <a:r>
              <a:t>Staff sees the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2185416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2A3542"/>
                </a:solidFill>
                <a:latin typeface="Aptos"/>
              </a:defRPr>
            </a:pPr>
            <a:r>
              <a:t>Open the ASP.NET dashboard and point out pending requests.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990088"/>
            <a:ext cx="5212080" cy="1005840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41832" y="3200400"/>
            <a:ext cx="438912" cy="438912"/>
          </a:xfrm>
          <a:prstGeom prst="ellipse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3319272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3145536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32B4A"/>
                </a:solidFill>
                <a:latin typeface="Aptos"/>
              </a:defRPr>
            </a:pPr>
            <a:r>
              <a:t>Staff reviews and schedules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3483864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2A3542"/>
                </a:solidFill>
                <a:latin typeface="Aptos"/>
              </a:defRPr>
            </a:pPr>
            <a:r>
              <a:t>Approve and assign a date/time, or demonstrate rejection.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990088"/>
            <a:ext cx="5212080" cy="1005840"/>
          </a:xfrm>
          <a:prstGeom prst="roundRect">
            <a:avLst/>
          </a:prstGeom>
          <a:solidFill>
            <a:srgbClr val="DEEBF8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65392" y="3200400"/>
            <a:ext cx="438912" cy="438912"/>
          </a:xfrm>
          <a:prstGeom prst="ellipse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3319272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3145536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32B4A"/>
                </a:solidFill>
                <a:latin typeface="Aptos"/>
              </a:defRPr>
            </a:pPr>
            <a:r>
              <a:t>Student sees the 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3483864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2A3542"/>
                </a:solidFill>
                <a:latin typeface="Aptos"/>
              </a:defRPr>
            </a:pPr>
            <a:r>
              <a:t>Return to Flutter and show the updated status.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288536"/>
            <a:ext cx="5212080" cy="1005840"/>
          </a:xfrm>
          <a:prstGeom prst="roundRect">
            <a:avLst/>
          </a:prstGeom>
          <a:solidFill>
            <a:srgbClr val="F0F6F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41832" y="4498848"/>
            <a:ext cx="438912" cy="438912"/>
          </a:xfrm>
          <a:prstGeom prst="ellipse">
            <a:avLst/>
          </a:prstGeom>
          <a:solidFill>
            <a:srgbClr val="16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1832" y="4617720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7048" y="4443983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32B4A"/>
                </a:solidFill>
                <a:latin typeface="Aptos"/>
              </a:defRPr>
            </a:pPr>
            <a:r>
              <a:t>Show email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7048" y="4782312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2A3542"/>
                </a:solidFill>
                <a:latin typeface="Aptos"/>
              </a:defRPr>
            </a:pPr>
            <a:r>
              <a:t>Open the test inbox and show a supported appointment email.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288536"/>
            <a:ext cx="5212080" cy="1005840"/>
          </a:xfrm>
          <a:prstGeom prst="roundRect">
            <a:avLst/>
          </a:prstGeom>
          <a:solidFill>
            <a:srgbClr val="DEEBF8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565392" y="4498848"/>
            <a:ext cx="438912" cy="438912"/>
          </a:xfrm>
          <a:prstGeom prst="ellipse">
            <a:avLst/>
          </a:prstGeom>
          <a:solidFill>
            <a:srgbClr val="276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65392" y="4617720"/>
            <a:ext cx="43891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4443983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132B4A"/>
                </a:solidFill>
                <a:latin typeface="Aptos"/>
              </a:defRPr>
            </a:pPr>
            <a:r>
              <a:t>Explain the benefit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8" y="4782312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2A3542"/>
                </a:solidFill>
                <a:latin typeface="Aptos"/>
              </a:defRPr>
            </a:pPr>
            <a:r>
              <a:t>Highlight less reliance on manual email checking and a central staff queue.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A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6565392"/>
            <a:ext cx="8961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5B6A7A"/>
                </a:solidFill>
                <a:latin typeface="Aptos"/>
              </a:defRPr>
            </a:pPr>
            <a:r>
              <a:t>CUT CLINIC APPOINTMENT MANAGEMENT SYSTEM  |  PROJECT PRESENTATION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5B6A7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7CDCD3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2900" b="1" i="0">
                <a:solidFill>
                  <a:srgbClr val="FFFFFF"/>
                </a:solidFill>
                <a:latin typeface="Aptos Display"/>
              </a:defRPr>
            </a:pPr>
            <a:r>
              <a:t>A clearer appointment journey for students and clinic staff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7CDCD3"/>
                </a:solidFill>
                <a:latin typeface="Aptos"/>
              </a:defRPr>
            </a:pPr>
            <a:r>
              <a:t>CENTRALISED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221992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t>Staff can see and manage requests in one portal.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9008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7CDCD3"/>
                </a:solidFill>
                <a:latin typeface="Aptos"/>
              </a:defRPr>
            </a:pPr>
            <a:r>
              <a:t>CONNECTED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97180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t>Flutter and ASP.NET use shared Supabase-backed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3989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7CDCD3"/>
                </a:solidFill>
                <a:latin typeface="Aptos"/>
              </a:defRPr>
            </a:pPr>
            <a:r>
              <a:t>TRACEABLE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721608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t>Appointment status, history and email outcomes are easier to follow.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970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200" b="1" i="0">
                <a:solidFill>
                  <a:srgbClr val="7CDCD3"/>
                </a:solidFill>
                <a:latin typeface="Aptos"/>
              </a:defRPr>
            </a:pPr>
            <a:r>
              <a:t>STAKEHOLDER-FOCUSED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471416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500" b="0" i="0">
                <a:solidFill>
                  <a:srgbClr val="FFFFFF"/>
                </a:solidFill>
                <a:latin typeface="Aptos"/>
              </a:defRPr>
            </a:pPr>
            <a:r>
              <a:t>The design directly targets delays, fragmented communication and limited inbox access.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Questions and stakeholder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72200"/>
            <a:ext cx="9601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CCD8E4"/>
                </a:solidFill>
                <a:latin typeface="Aptos"/>
              </a:defRPr>
            </a:pPr>
            <a:r>
              <a:t>CUT Clinic Appointment Management System  •  Flutter  •  ASP.NET Core  •  Supabase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1598</Words>
  <Application>Microsoft Office PowerPoint</Application>
  <PresentationFormat>Widescreen</PresentationFormat>
  <Paragraphs>237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Tracker overview</vt:lpstr>
      <vt:lpstr>Microsoft Plan</vt:lpstr>
      <vt:lpstr>Github </vt:lpstr>
      <vt:lpstr>Supabase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thabang nzabo</cp:lastModifiedBy>
  <cp:revision>3</cp:revision>
  <dcterms:created xsi:type="dcterms:W3CDTF">2013-01-27T09:14:16Z</dcterms:created>
  <dcterms:modified xsi:type="dcterms:W3CDTF">2026-10-23T10:46:42Z</dcterms:modified>
  <cp:category/>
</cp:coreProperties>
</file>